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Plus Jakarta Sans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892647"/>
            <a:ext cx="4152900" cy="3048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346227"/>
            <a:ext cx="65151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8435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346227"/>
            <a:ext cx="65151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900" y="1428750"/>
            <a:ext cx="4000500" cy="400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950" y="1447800"/>
            <a:ext cx="3962400" cy="396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1987897"/>
            <a:ext cx="142875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2426047"/>
            <a:ext cx="694086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 dirty="0">
                <a:solidFill>
                  <a:srgbClr val="FFFFFF"/>
                </a:solidFill>
                <a:latin typeface="Plus Jakarta Sans"/>
              </a:rPr>
              <a:t>Converting Casual Riders to Annual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755677"/>
            <a:ext cx="81438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Q1 Behavioral Data Analysis &amp; Growth Strategies for Executive Leadership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" y="1959322"/>
            <a:ext cx="4833937" cy="171450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Plus Jakarta Sans"/>
              </a:rPr>
              <a:t>CYCLISTIC BIKE-SHARE • EXECUTIVE CASE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24" y="4652530"/>
            <a:ext cx="67627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89115"/>
            <a:ext cx="2685030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F8FAFC"/>
                </a:solidFill>
                <a:latin typeface="Plus Jakarta Sans"/>
              </a:rPr>
              <a:t>Okunmuyide Semire Emmanuel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849117"/>
            <a:ext cx="25509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Plus Jakarta Sans"/>
              </a:rPr>
              <a:t>Lead Data Analyst • Power BI &amp;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14475"/>
            <a:ext cx="3530649" cy="1247775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1514475"/>
            <a:ext cx="3530649" cy="1247775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1514475"/>
            <a:ext cx="3530649" cy="1247775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971925"/>
            <a:ext cx="53721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3971925"/>
            <a:ext cx="5372100" cy="144780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752725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1514475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1514475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30724" y="1514475"/>
            <a:ext cx="9525" cy="1247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0749" y="2752725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0749" y="1514475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30749" y="1514475"/>
            <a:ext cx="38100" cy="12477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51874" y="1514475"/>
            <a:ext cx="9525" cy="1247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51899" y="2752725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51899" y="1514475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51899" y="1514475"/>
            <a:ext cx="38100" cy="124777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573023" y="1514475"/>
            <a:ext cx="9525" cy="12477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4267200"/>
            <a:ext cx="228600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4267200"/>
            <a:ext cx="257175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EXECUTIVE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Q1 Performance &amp; Rider Profile Snapshot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1714500"/>
            <a:ext cx="378228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TOTAL Q1 TRIP VOLUME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" y="1924050"/>
            <a:ext cx="378228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791,956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2390775"/>
            <a:ext cx="378228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Overall Dataset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7449" y="1714500"/>
            <a:ext cx="378228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ANNUAL MEMBER 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7449" y="1924050"/>
            <a:ext cx="378228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91.0%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7449" y="2390775"/>
            <a:ext cx="378228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Plus Jakarta Sans"/>
              </a:rPr>
              <a:t>720,313 Commuter Trips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8599" y="1714500"/>
            <a:ext cx="378228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CASUAL RIDER SHARE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8599" y="1924050"/>
            <a:ext cx="378228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9.0%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8599" y="2390775"/>
            <a:ext cx="378228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71,643 Leisure Trips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825" y="4629150"/>
            <a:ext cx="49149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Routine weekday commuters with predictable 13-minute transit times.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6525" y="4629150"/>
            <a:ext cx="49149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Weekend leisure cyclists riding 6x longer with high conversion potential.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8725" y="4248150"/>
            <a:ext cx="331291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Annual Member Behavior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248150"/>
            <a:ext cx="34004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Casual Rider Opportunity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86000" y="4262437"/>
            <a:ext cx="7620000" cy="9525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771900" y="4452937"/>
            <a:ext cx="5029200" cy="2286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771900" y="4795837"/>
            <a:ext cx="5029200" cy="2286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771900" y="4452937"/>
            <a:ext cx="5029200" cy="22860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771900" y="4795837"/>
            <a:ext cx="779412" cy="2286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TRIP DURATION DISPARITY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Casual Riders Stay on Docks 6x Longer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547937"/>
            <a:ext cx="5334000" cy="990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sz="7800" b="1" i="0" u="none">
                <a:solidFill>
                  <a:srgbClr val="0F172A"/>
                </a:solidFill>
                <a:latin typeface="Plus Jakarta Sans"/>
              </a:rPr>
              <a:t>84.8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2421" y="3690937"/>
            <a:ext cx="772715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64748B"/>
                </a:solidFill>
                <a:latin typeface="Plus Jakarta Sans"/>
              </a:rPr>
              <a:t>Average Casual Ride Duration vs. </a:t>
            </a:r>
            <a:r>
              <a:rPr sz="1650" b="1" i="0" u="none">
                <a:solidFill>
                  <a:srgbClr val="0D9488"/>
                </a:solidFill>
                <a:latin typeface="Plus Jakarta Sans"/>
              </a:rPr>
              <a:t>13.2 min</a:t>
            </a:r>
            <a:r>
              <a:rPr sz="1650" b="1" i="0" u="none">
                <a:solidFill>
                  <a:srgbClr val="64748B"/>
                </a:solidFill>
                <a:latin typeface="Plus Jakarta Sans"/>
              </a:rPr>
              <a:t> for Annual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4467225"/>
            <a:ext cx="1428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i="0" u="none">
                <a:solidFill>
                  <a:srgbClr val="334155"/>
                </a:solidFill>
                <a:latin typeface="Plus Jakarta Sans"/>
              </a:rPr>
              <a:t>Casual Rider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0625" y="4467225"/>
            <a:ext cx="1047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84.8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0750" y="4810125"/>
            <a:ext cx="1428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i="0" u="none">
                <a:solidFill>
                  <a:srgbClr val="334155"/>
                </a:solidFill>
                <a:latin typeface="Plus Jakarta Sans"/>
              </a:rPr>
              <a:t>Annual 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10625" y="4810125"/>
            <a:ext cx="1047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D9488"/>
                </a:solidFill>
                <a:latin typeface="Plus Jakarta Sans"/>
              </a:rPr>
              <a:t>13.2 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28887"/>
            <a:ext cx="6421487" cy="270510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35887" y="2728912"/>
            <a:ext cx="4246512" cy="1057275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35887" y="3976687"/>
            <a:ext cx="4246512" cy="1057275"/>
          </a:xfrm>
          <a:prstGeom prst="roundRect">
            <a:avLst>
              <a:gd name="adj" fmla="val 72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35887" y="2728912"/>
            <a:ext cx="38100" cy="10572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35887" y="3976687"/>
            <a:ext cx="38100" cy="105727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640312" y="2795587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869037" y="2795587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81831" y="4024312"/>
            <a:ext cx="171450" cy="66675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291381" y="3357562"/>
            <a:ext cx="171450" cy="1333500"/>
          </a:xfrm>
          <a:prstGeom prst="roundRect">
            <a:avLst>
              <a:gd name="adj" fmla="val 16666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931193" y="3452812"/>
            <a:ext cx="171450" cy="123825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140743" y="4452937"/>
            <a:ext cx="171450" cy="238125"/>
          </a:xfrm>
          <a:prstGeom prst="roundRect">
            <a:avLst>
              <a:gd name="adj" fmla="val 16666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80555" y="3214687"/>
            <a:ext cx="171450" cy="1476375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90105" y="4424362"/>
            <a:ext cx="171450" cy="266700"/>
          </a:xfrm>
          <a:prstGeom prst="roundRect">
            <a:avLst>
              <a:gd name="adj" fmla="val 16666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629917" y="3281362"/>
            <a:ext cx="171450" cy="140970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39467" y="4424362"/>
            <a:ext cx="171450" cy="266700"/>
          </a:xfrm>
          <a:prstGeom prst="roundRect">
            <a:avLst>
              <a:gd name="adj" fmla="val 16666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79280" y="3262312"/>
            <a:ext cx="171450" cy="142875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688830" y="4424362"/>
            <a:ext cx="171450" cy="266700"/>
          </a:xfrm>
          <a:prstGeom prst="roundRect">
            <a:avLst>
              <a:gd name="adj" fmla="val 16666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328642" y="3376612"/>
            <a:ext cx="171450" cy="131445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538192" y="4386262"/>
            <a:ext cx="171450" cy="304800"/>
          </a:xfrm>
          <a:prstGeom prst="roundRect">
            <a:avLst>
              <a:gd name="adj" fmla="val 16666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78004" y="4024312"/>
            <a:ext cx="171450" cy="66675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87554" y="3690937"/>
            <a:ext cx="171450" cy="1000125"/>
          </a:xfrm>
          <a:prstGeom prst="roundRect">
            <a:avLst>
              <a:gd name="adj" fmla="val 16666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WEEKLY USAGE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Commuters Own Weekdays; Casuals Peak Weekends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4487" y="2919412"/>
            <a:ext cx="46275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Weekday Commute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4487" y="3195637"/>
            <a:ext cx="392266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Members average 110k–135k daily trips during work hours.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4487" y="4167187"/>
            <a:ext cx="46275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Weekend Surge Peak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4487" y="4443412"/>
            <a:ext cx="392266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Casual riders increase trip volume by over 200% on weekends.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0812" y="2767012"/>
            <a:ext cx="1133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Member Trips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59537" y="2767012"/>
            <a:ext cx="1019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Casual Trips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3269" y="4729162"/>
            <a:ext cx="523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78818" y="4729162"/>
            <a:ext cx="571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Mon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56755" y="4729162"/>
            <a:ext cx="514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Tue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68017" y="4729162"/>
            <a:ext cx="590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Wed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5480" y="4729162"/>
            <a:ext cx="514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Thu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38179" y="4729162"/>
            <a:ext cx="4476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Fri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8966" y="4729162"/>
            <a:ext cx="5048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85169"/>
            <a:ext cx="3505200" cy="2268587"/>
          </a:xfrm>
          <a:prstGeom prst="roundRect">
            <a:avLst>
              <a:gd name="adj" fmla="val 50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85169"/>
            <a:ext cx="3505200" cy="2268587"/>
          </a:xfrm>
          <a:prstGeom prst="roundRect">
            <a:avLst>
              <a:gd name="adj" fmla="val 503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91879"/>
            <a:ext cx="3505200" cy="2055316"/>
          </a:xfrm>
          <a:prstGeom prst="roundRect">
            <a:avLst>
              <a:gd name="adj" fmla="val 55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099494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099494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206204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3223319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9162" y="3223319"/>
            <a:ext cx="1619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4862" y="3330029"/>
            <a:ext cx="2381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STRATEGIC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Three High-Impact Conversion Strategies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747194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Targeted Weekend Campaigns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099619"/>
            <a:ext cx="312420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Focus digital promotions near parks and waterfront routes during weekend peak hours.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525" y="3747194"/>
            <a:ext cx="397549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In-App Savings Calculator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525" y="4099619"/>
            <a:ext cx="312420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Trigger automated post-ride alerts highlighting exact cost savings under annual plans.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3853904"/>
            <a:ext cx="387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Flexible Pass Credits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4206329"/>
            <a:ext cx="31242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Credit weekend single-pass fees toward annual pass upgrades within 30 days.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52762"/>
            <a:ext cx="2628900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90900" y="3052762"/>
            <a:ext cx="2628900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200" y="3052762"/>
            <a:ext cx="2628900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53500" y="3052762"/>
            <a:ext cx="2628900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7725" y="32908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29025" y="32908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10325" y="32908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91625" y="329088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EXECUTION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Four-Phase Implementation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32908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786187"/>
            <a:ext cx="282535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Q1 Analytics Sign-Off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081462"/>
            <a:ext cx="2247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Finalize Q1 baseline metrics and stakeholder agreement.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6150" y="32908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9025" y="3786187"/>
            <a:ext cx="282535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Q2 App Notification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9025" y="4081462"/>
            <a:ext cx="2247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Deploy post-ride savings calculator alerts in mobile app.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7450" y="32908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3786187"/>
            <a:ext cx="282535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Q3 Weekend Campaigns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0325" y="4081462"/>
            <a:ext cx="22479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Launch geo-targeted summer marketing at popular waterfront hubs.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0" y="32908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Plus Jakarta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1625" y="3786187"/>
            <a:ext cx="282535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Q4 Conversion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1625" y="4081462"/>
            <a:ext cx="2247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Evaluate annual membership growth and revenue uplift.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2418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7188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31958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900" y="1428750"/>
            <a:ext cx="4000500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425" y="1438275"/>
            <a:ext cx="3981450" cy="398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100262"/>
            <a:ext cx="8143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EXPANSION HORIZONS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347912"/>
            <a:ext cx="8551068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Expanding Scope for 12-Month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3024187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0284C7"/>
                </a:solidFill>
                <a:latin typeface="Plus Jakarta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3671887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0D9488"/>
                </a:solidFill>
                <a:latin typeface="Plus Jakarta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4319587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005137"/>
            <a:ext cx="712589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Full 12-Month Seasonality 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262312"/>
            <a:ext cx="6786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Incorporate summer and autumn peak datasets to refine annual projections.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652837"/>
            <a:ext cx="682585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Demographic &amp; Route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3910012"/>
            <a:ext cx="6500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Integrate start/end station GPS data to identify top conversion corridors.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4300537"/>
            <a:ext cx="681335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Price Elasticity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4557712"/>
            <a:ext cx="6488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Test promotional membership discounts to find optimal price sensitivity.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62537" y="2331690"/>
            <a:ext cx="2066925" cy="3048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10250" y="448806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26666" y="2865090"/>
            <a:ext cx="9338667" cy="61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FFFFFF"/>
                </a:solidFill>
                <a:latin typeface="Plus Jakarta Sans"/>
              </a:rPr>
              <a:t>Thank You &amp; Strategic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630810"/>
            <a:ext cx="7143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Ready to execute data-driven campaigns to accelerate annual membership growth.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6578" y="2398365"/>
            <a:ext cx="21788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CYCLISTIC BIKE-SHARE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7310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E293B"/>
                </a:solidFill>
                <a:latin typeface="Plus Jakarta Sans"/>
              </a:rPr>
              <a:t>https://ecospazio.it/wp-content/uploads/2023/02/ecospazio_pensilina_modello_predazzo.jpg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1857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ecospazio.it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9750"/>
            <a:ext cx="6953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E293B"/>
                </a:solidFill>
                <a:latin typeface="Plus Jakarta Sans"/>
              </a:rPr>
              <a:t>https://cdn.outsideonline.com/wp-content/uploads/2019/09/17/bike-boardwalk-city_s.jpg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9775"/>
            <a:ext cx="29646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www.outsideonline.com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410</Words>
  <Application>Microsoft Office PowerPoint</Application>
  <PresentationFormat>Widescreen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Arial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Okunmuyide Emmanuel</dc:creator>
  <cp:keywords/>
  <dc:description>generated using python-pptx</dc:description>
  <cp:lastModifiedBy>Okunmuyide Emmanuel</cp:lastModifiedBy>
  <cp:revision>2</cp:revision>
  <dcterms:created xsi:type="dcterms:W3CDTF">2013-01-27T09:14:16Z</dcterms:created>
  <dcterms:modified xsi:type="dcterms:W3CDTF">2026-09-26T01:16:59Z</dcterms:modified>
  <cp:category/>
</cp:coreProperties>
</file>